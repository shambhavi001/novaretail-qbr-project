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_title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NovaRetail — Quarterly Business Review</a:t>
            </a:r>
            <a:endParaRPr lang="en-US" sz="3200" dirty="0"/>
          </a:p>
        </p:txBody>
      </p:sp>
      <p:sp>
        <p:nvSpPr>
          <p:cNvPr id="3" name="subtitle_1"/>
          <p:cNvSpPr txBox="1"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>
                <a:solidFill>
                  <a:srgbClr val="FFFFFF"/>
                </a:solidFill>
              </a:rPr>
              <a:t>Review Period: Q2 2026 Board Review</a:t>
            </a:r>
            <a:endParaRPr lang="en-US" sz="1500" dirty="0"/>
          </a:p>
        </p:txBody>
      </p:sp>
      <p:sp>
        <p:nvSpPr>
          <p:cNvPr id="4" name="kpi1_box"/>
          <p:cNvSpPr/>
          <p:nvPr/>
        </p:nvSpPr>
        <p:spPr>
          <a:xfrm>
            <a:off x="548640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  <p:txBody>
          <a:bodyPr/>
          <a:p/>
        </p:txBody>
      </p:sp>
      <p:sp>
        <p:nvSpPr>
          <p:cNvPr id="5" name="kpi1_value"/>
          <p:cNvSpPr txBox="1"/>
          <p:nvPr/>
        </p:nvSpPr>
        <p:spPr>
          <a:xfrm>
            <a:off x="685800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>
                <a:solidFill>
                  <a:srgbClr val="FFFFFF"/>
                </a:solidFill>
              </a:rPr>
              <a:t>$1.28B</a:t>
            </a:r>
            <a:endParaRPr lang="en-US" sz="3200" dirty="0"/>
          </a:p>
        </p:txBody>
      </p:sp>
      <p:sp>
        <p:nvSpPr>
          <p:cNvPr id="6" name="kpi1_label"/>
          <p:cNvSpPr txBox="1"/>
          <p:nvPr/>
        </p:nvSpPr>
        <p:spPr>
          <a:xfrm>
            <a:off x="685800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>
                <a:solidFill>
                  <a:srgbClr val="FFFFFF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7" name="kpi2_box"/>
          <p:cNvSpPr/>
          <p:nvPr/>
        </p:nvSpPr>
        <p:spPr>
          <a:xfrm>
            <a:off x="4367784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  <p:txBody>
          <a:bodyPr/>
          <a:p/>
        </p:txBody>
      </p:sp>
      <p:sp>
        <p:nvSpPr>
          <p:cNvPr id="8" name="kpi2_value"/>
          <p:cNvSpPr txBox="1"/>
          <p:nvPr/>
        </p:nvSpPr>
        <p:spPr>
          <a:xfrm>
            <a:off x="4504944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>
                <a:solidFill>
                  <a:srgbClr val="FFFFFF"/>
                </a:solidFill>
              </a:rPr>
              <a:t>+4.5%</a:t>
            </a:r>
            <a:endParaRPr lang="en-US" sz="3200" dirty="0"/>
          </a:p>
        </p:txBody>
      </p:sp>
      <p:sp>
        <p:nvSpPr>
          <p:cNvPr id="9" name="kpi2_label"/>
          <p:cNvSpPr txBox="1"/>
          <p:nvPr/>
        </p:nvSpPr>
        <p:spPr>
          <a:xfrm>
            <a:off x="4504944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>
                <a:solidFill>
                  <a:srgbClr val="FFFFFF"/>
                </a:solidFill>
              </a:rPr>
              <a:t>QoQ Revenue Growth</a:t>
            </a:r>
            <a:endParaRPr lang="en-US" sz="1100" dirty="0"/>
          </a:p>
        </p:txBody>
      </p:sp>
      <p:sp>
        <p:nvSpPr>
          <p:cNvPr id="10" name="kpi3_box"/>
          <p:cNvSpPr/>
          <p:nvPr/>
        </p:nvSpPr>
        <p:spPr>
          <a:xfrm>
            <a:off x="8186928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  <p:txBody>
          <a:bodyPr/>
          <a:p/>
        </p:txBody>
      </p:sp>
      <p:sp>
        <p:nvSpPr>
          <p:cNvPr id="11" name="kpi3_value"/>
          <p:cNvSpPr txBox="1"/>
          <p:nvPr/>
        </p:nvSpPr>
        <p:spPr>
          <a:xfrm>
            <a:off x="8324088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>
                <a:solidFill>
                  <a:srgbClr val="FFFFFF"/>
                </a:solidFill>
              </a:rPr>
              <a:t>49.8</a:t>
            </a:r>
            <a:endParaRPr lang="en-US" sz="3200" dirty="0"/>
          </a:p>
        </p:txBody>
      </p:sp>
      <p:sp>
        <p:nvSpPr>
          <p:cNvPr id="12" name="kpi3_label"/>
          <p:cNvSpPr txBox="1"/>
          <p:nvPr/>
        </p:nvSpPr>
        <p:spPr>
          <a:xfrm>
            <a:off x="8324088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>
                <a:solidFill>
                  <a:srgbClr val="FFFFFF"/>
                </a:solidFill>
              </a:rPr>
              <a:t>Average Regional NPS</a:t>
            </a:r>
            <a:endParaRPr lang="en-US" sz="1100" dirty="0"/>
          </a:p>
        </p:txBody>
      </p:sp>
      <p:sp>
        <p:nvSpPr>
          <p:cNvPr id="13" name="summary_label"/>
          <p:cNvSpPr txBox="1"/>
          <p:nvPr/>
        </p:nvSpPr>
        <p:spPr>
          <a:xfrm>
            <a:off x="548640" y="3520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4" name="summary_text"/>
          <p:cNvSpPr txBox="1"/>
          <p:nvPr/>
        </p:nvSpPr>
        <p:spPr>
          <a:xfrm>
            <a:off x="548640" y="3886200"/>
            <a:ext cx="9235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>
                <a:solidFill>
                  <a:srgbClr val="FFFFFF"/>
                </a:solidFill>
              </a:rPr>
              <a:t>Total revenue reached $1.28B with a +4.5% QoQ growth. APAC emerged as the strongest region in growth and returns, while Latin America represents the highest-risk region across operations and customer experience. Executive implication requires immediate operational remediation in Latin America to protect revenue.</a:t>
            </a:r>
            <a:endParaRPr lang="en-US" sz="1800" dirty="0"/>
          </a:p>
        </p:txBody>
      </p:sp>
      <p:sp>
        <p:nvSpPr>
          <p:cNvPr id="17" name="footer_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18" name="page_num_1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pic>
        <p:nvPicPr>
          <p:cNvPr id="19" name="Picture 18" descr="globe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886200"/>
            <a:ext cx="1581912" cy="1581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t>North America and APAC lead revenue generation while Latin America lags behind</a:t>
            </a:r>
            <a:endParaRPr lang="en-US" sz="2400" dirty="0"/>
          </a:p>
        </p:txBody>
      </p:sp>
      <p:sp>
        <p:nvSpPr>
          <p:cNvPr id="5" name="insights_performance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t>• North America leads total revenue at $465M with 1,120k units sold and a marketing spend of $34M.</a:t>
            </a:r>
            <a:endParaRPr lang="en-US" sz="1350" dirty="0"/>
          </a:p>
          <a:p>
            <a:pPr>
              <a:spcAft>
                <a:spcPts val="0"/>
              </a:spcAft>
            </a:pPr>
            <a:r>
              <a:t>• APAC delivers the strongest growth, generating $330M revenue with 860k units sold and the lowest returns rate at 3.6%.</a:t>
            </a:r>
          </a:p>
          <a:p>
            <a:pPr>
              <a:spcAft>
                <a:spcPts val="0"/>
              </a:spcAft>
            </a:pPr>
            <a:r>
              <a:t>• Europe records $345M revenue with 880k units sold and a 4.1% returns rate.</a:t>
            </a:r>
          </a:p>
          <a:p>
            <a:pPr>
              <a:spcAft>
                <a:spcPts val="0"/>
              </a:spcAft>
            </a:pPr>
            <a:r>
              <a:t>• Latin America is the weakest region, generating $140M revenue with 390k units sold and the highest returns rate at 8.2%.</a:t>
            </a:r>
          </a:p>
        </p:txBody>
      </p:sp>
      <p:sp>
        <p:nvSpPr>
          <p:cNvPr id="8" name="footer_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2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pic>
        <p:nvPicPr>
          <p:cNvPr id="10" name="Picture 9" descr="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4800600"/>
          </a:xfrm>
          <a:prstGeom prst="rect">
            <a:avLst/>
          </a:prstGeom>
        </p:spPr>
      </p:pic>
      <p:pic>
        <p:nvPicPr>
          <p:cNvPr id="11" name="Picture 10" descr="growth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3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t>APAC achieves highest customer satisfaction while Latin America experiences severe sentiment decline</a:t>
            </a:r>
            <a:endParaRPr lang="en-US" sz="2400" dirty="0"/>
          </a:p>
        </p:txBody>
      </p:sp>
      <p:sp>
        <p:nvSpPr>
          <p:cNvPr id="5" name="insights_customer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t>• APAC leads customer satisfaction with NPS at 62 and CSAT at 92, outperforming all other regions.</a:t>
            </a:r>
            <a:endParaRPr lang="en-US" sz="1350" dirty="0"/>
          </a:p>
          <a:p>
            <a:pPr>
              <a:spcAft>
                <a:spcPts val="0"/>
              </a:spcAft>
            </a:pPr>
            <a:r>
              <a:t>• Latin America customer experience severely lags with an NPS of 29, CSAT of 74, and 31 thousand support tickets.</a:t>
            </a:r>
          </a:p>
          <a:p>
            <a:pPr>
              <a:spcAft>
                <a:spcPts val="0"/>
              </a:spcAft>
            </a:pPr>
            <a:r>
              <a:t>• North America maintains steady customer metrics with an NPS of 55 and CSAT of 89 across 18 thousand support tickets.</a:t>
            </a:r>
          </a:p>
          <a:p>
            <a:pPr>
              <a:spcAft>
                <a:spcPts val="0"/>
              </a:spcAft>
            </a:pPr>
            <a:r>
              <a:t>• Europe records solid engagement with an NPS of 53, CSAT of 88, and 14 thousand support tickets delivered in 3.2 days.</a:t>
            </a:r>
          </a:p>
        </p:txBody>
      </p:sp>
      <p:sp>
        <p:nvSpPr>
          <p:cNvPr id="8" name="footer_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3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pic>
        <p:nvPicPr>
          <p:cNvPr id="10" name="Picture 9" descr="custo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4800600"/>
          </a:xfrm>
          <a:prstGeom prst="rect">
            <a:avLst/>
          </a:prstGeom>
        </p:spPr>
      </p:pic>
      <p:pic>
        <p:nvPicPr>
          <p:cNvPr id="11" name="Picture 10" descr="customer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4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t>Latin America exhibits critical operational risk across stockouts, returns, and fraud incidents</a:t>
            </a:r>
            <a:endParaRPr lang="en-US" sz="2400" dirty="0"/>
          </a:p>
        </p:txBody>
      </p:sp>
      <p:sp>
        <p:nvSpPr>
          <p:cNvPr id="5" name="insights_risk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t>• Latin America presents severe operational risks with a stockout rate of 12.5%, 30 fraud incidents, and 10 return processing days.</a:t>
            </a:r>
            <a:endParaRPr lang="en-US" sz="1350" dirty="0"/>
          </a:p>
          <a:p>
            <a:pPr>
              <a:spcAft>
                <a:spcPts val="0"/>
              </a:spcAft>
            </a:pPr>
            <a:r>
              <a:t>• APAC warehouse utilization reaches critical capacity at 92%, accompanied by an 8.5% stockout rate and 10 fraud incidents.</a:t>
            </a:r>
          </a:p>
          <a:p>
            <a:pPr>
              <a:spcAft>
                <a:spcPts val="0"/>
              </a:spcAft>
            </a:pPr>
            <a:r>
              <a:t>• North America maintains stable operational risk with a 3.8% stockout rate, 13 fraud incidents, and 4 return processing days.</a:t>
            </a:r>
          </a:p>
          <a:p>
            <a:pPr>
              <a:spcAft>
                <a:spcPts val="0"/>
              </a:spcAft>
            </a:pPr>
            <a:r>
              <a:t>• Europe operates efficiently with a 4.0% stockout rate, 11 fraud incidents, and 5 return processing days.</a:t>
            </a:r>
          </a:p>
        </p:txBody>
      </p:sp>
      <p:sp>
        <p:nvSpPr>
          <p:cNvPr id="8" name="footer_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4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pic>
        <p:nvPicPr>
          <p:cNvPr id="10" name="Picture 9" descr="stockout_rate_p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4800600"/>
          </a:xfrm>
          <a:prstGeom prst="rect">
            <a:avLst/>
          </a:prstGeom>
        </p:spPr>
      </p:pic>
      <p:pic>
        <p:nvPicPr>
          <p:cNvPr id="11" name="Picture 10" descr="risk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5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 &amp; Next Steps</a:t>
            </a:r>
            <a:endParaRPr lang="en-US" sz="2800" dirty="0"/>
          </a:p>
        </p:txBody>
      </p:sp>
      <p:sp>
        <p:nvSpPr>
          <p:cNvPr id="3" name="recommendations_text"/>
          <p:cNvSpPr txBox="1"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>
                <a:solidFill>
                  <a:srgbClr val="FFFFFF"/>
                </a:solidFill>
              </a:rPr>
              <a:t>• Optimize supply chain logistics in Latin America to lower the 12.5% stockout rate.</a:t>
            </a:r>
            <a:endParaRPr lang="en-US" sz="1600" dirty="0"/>
          </a:p>
          <a:p>
            <a:pPr>
              <a:spcAft>
                <a:spcPts val="0"/>
              </a:spcAft>
            </a:pPr>
            <a:r>
              <a:rPr>
                <a:solidFill>
                  <a:srgbClr val="FFFFFF"/>
                </a:solidFill>
              </a:rPr>
              <a:t>• Invest in fraud prevention systems across Latin America to reduce the 30 fraud incidents.</a:t>
            </a:r>
          </a:p>
          <a:p>
            <a:pPr>
              <a:spcAft>
                <a:spcPts val="0"/>
              </a:spcAft>
            </a:pPr>
            <a:r>
              <a:rPr>
                <a:solidFill>
                  <a:srgbClr val="FFFFFF"/>
                </a:solidFill>
              </a:rPr>
              <a:t>• Enhance warehouse capacity management in APAC where utilization has reached 92%.</a:t>
            </a:r>
          </a:p>
          <a:p>
            <a:pPr>
              <a:spcAft>
                <a:spcPts val="0"/>
              </a:spcAft>
            </a:pPr>
            <a:r>
              <a:rPr>
                <a:solidFill>
                  <a:srgbClr val="FFFFFF"/>
                </a:solidFill>
              </a:rPr>
              <a:t>• Deploy targeted customer support interventions in Latin America to address low NPS and tickets.</a:t>
            </a:r>
          </a:p>
        </p:txBody>
      </p:sp>
      <p:sp>
        <p:nvSpPr>
          <p:cNvPr id="6" name="closing_statement"/>
          <p:cNvSpPr txBox="1"/>
          <p:nvPr/>
        </p:nvSpPr>
        <p:spPr>
          <a:xfrm>
            <a:off x="548640" y="58978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>
                <a:solidFill>
                  <a:srgbClr val="FFFFFF"/>
                </a:solidFill>
              </a:rPr>
              <a:t>Executive focus must target Latin America operational bottlenecks and support escalations.</a:t>
            </a:r>
            <a:endParaRPr lang="en-US" sz="1400" dirty="0"/>
          </a:p>
        </p:txBody>
      </p:sp>
      <p:sp>
        <p:nvSpPr>
          <p:cNvPr id="7" name="footer_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8" name="page_num_5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9" name="Picture 8" descr="lightbulb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2026-10-05T14:35:45Z</dcterms:created>
  <dcterms:modified xsi:type="dcterms:W3CDTF">2026-10-05T14:35:45Z</dcterms:modified>
</cp:coreProperties>
</file>